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2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226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5T16:20:50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24575,'-1'0'-8191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5T16:20:51.8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24575,'-1'0'-8191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5T16:20:52.5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24575,'1'-1'-8191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5T16:20:53.2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24575,'0'-1'-8191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5T16:20:59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24575,'-1'0'-8191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5T16:21:01.7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24575,'-1'0'-8191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5T16:21:04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24575,'0'-1'-8191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5T16:21:05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0980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20.jpg"/><Relationship Id="rId7" Type="http://schemas.openxmlformats.org/officeDocument/2006/relationships/customXml" Target="../ink/ink3.xml"/><Relationship Id="rId12" Type="http://schemas.openxmlformats.org/officeDocument/2006/relationships/customXml" Target="../ink/ink8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1" Type="http://schemas.openxmlformats.org/officeDocument/2006/relationships/customXml" Target="../ink/ink7.xml"/><Relationship Id="rId5" Type="http://schemas.openxmlformats.org/officeDocument/2006/relationships/image" Target="../media/image21.png"/><Relationship Id="rId10" Type="http://schemas.openxmlformats.org/officeDocument/2006/relationships/customXml" Target="../ink/ink6.xml"/><Relationship Id="rId4" Type="http://schemas.openxmlformats.org/officeDocument/2006/relationships/customXml" Target="../ink/ink1.xml"/><Relationship Id="rId9" Type="http://schemas.openxmlformats.org/officeDocument/2006/relationships/customXml" Target="../ink/ink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>
          <a:blip r:embed="rId3">
            <a:alphaModFix amt="96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5400" dirty="0"/>
              <a:t>Expert talk safe and trusted AI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2423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From Basics to AGI: Understanding Modern Intelligence Systems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/>
              <a:t>V HARIHARA SESHU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alphaModFix amt="49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18872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This Session Matters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853440" y="1299210"/>
            <a:ext cx="6774180" cy="3375660"/>
          </a:xfrm>
          <a:prstGeom prst="rect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026920" y="1432560"/>
            <a:ext cx="57835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Arial Black" panose="020B0A04020102020204" pitchFamily="34" charset="0"/>
                <a:ea typeface="Arial" pitchFamily="34" charset="-122"/>
                <a:cs typeface="Arial" pitchFamily="34" charset="-120"/>
              </a:rPr>
              <a:t>AI is not just hype — it's infrastructure</a:t>
            </a:r>
            <a:endParaRPr lang="en-US" sz="1600" b="1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sz="1600" b="1" dirty="0">
                <a:latin typeface="Arial Black" panose="020B0A04020102020204" pitchFamily="34" charset="0"/>
                <a:ea typeface="Arial" pitchFamily="34" charset="-122"/>
                <a:cs typeface="Arial" pitchFamily="34" charset="-120"/>
              </a:rPr>
              <a:t>Every major tech company is AI-first</a:t>
            </a:r>
          </a:p>
          <a:p>
            <a:pPr marL="0" indent="0">
              <a:buNone/>
            </a:pPr>
            <a:endParaRPr lang="en-US" sz="1600" b="1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sz="1600" b="1" dirty="0">
                <a:latin typeface="Arial Black" panose="020B0A04020102020204" pitchFamily="34" charset="0"/>
                <a:ea typeface="Arial" pitchFamily="34" charset="-122"/>
                <a:cs typeface="Arial" pitchFamily="34" charset="-120"/>
              </a:rPr>
              <a:t>AI is reshaping:</a:t>
            </a:r>
            <a:endParaRPr lang="en-US" sz="1600" b="1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sz="1600" b="1" dirty="0">
                <a:latin typeface="Arial Black" panose="020B0A04020102020204" pitchFamily="34" charset="0"/>
                <a:ea typeface="Arial" pitchFamily="34" charset="-122"/>
                <a:cs typeface="Arial" pitchFamily="34" charset="-120"/>
              </a:rPr>
              <a:t>• Jobs and career paths
</a:t>
            </a:r>
            <a:endParaRPr lang="en-US" sz="1600" b="1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sz="1600" b="1" dirty="0">
                <a:latin typeface="Arial Black" panose="020B0A04020102020204" pitchFamily="34" charset="0"/>
                <a:ea typeface="Arial" pitchFamily="34" charset="-122"/>
                <a:cs typeface="Arial" pitchFamily="34" charset="-120"/>
              </a:rPr>
              <a:t>• Business models and revenue streams
</a:t>
            </a:r>
            <a:endParaRPr lang="en-US" sz="1600" b="1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sz="1600" b="1" dirty="0">
                <a:latin typeface="Arial Black" panose="020B0A04020102020204" pitchFamily="34" charset="0"/>
                <a:ea typeface="Arial" pitchFamily="34" charset="-122"/>
                <a:cs typeface="Arial" pitchFamily="34" charset="-120"/>
              </a:rPr>
              <a:t>• Creativity and content creation
</a:t>
            </a:r>
            <a:endParaRPr lang="en-US" sz="1600" b="1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sz="1600" b="1" dirty="0">
                <a:latin typeface="Arial Black" panose="020B0A04020102020204" pitchFamily="34" charset="0"/>
                <a:ea typeface="Arial" pitchFamily="34" charset="-122"/>
                <a:cs typeface="Arial" pitchFamily="34" charset="-120"/>
              </a:rPr>
              <a:t>• Research and scientific discovery
</a:t>
            </a:r>
            <a:endParaRPr lang="en-US" sz="1600" b="1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sz="1600" b="1" dirty="0">
                <a:latin typeface="Arial Black" panose="020B0A04020102020204" pitchFamily="34" charset="0"/>
                <a:ea typeface="Arial" pitchFamily="34" charset="-122"/>
                <a:cs typeface="Arial" pitchFamily="34" charset="-120"/>
              </a:rPr>
              <a:t>Understanding AI = Future-proofing your career</a:t>
            </a:r>
            <a:endParaRPr lang="en-US" sz="1600" b="1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572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Artificial Intelligence?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Machines performing tasks requiring human intelligence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57200" y="1828800"/>
            <a:ext cx="3886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96596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7280" y="19659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
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Improving from experience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4800600" y="1828800"/>
            <a:ext cx="3886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1965960"/>
            <a:ext cx="36576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40680" y="19659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
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decision-making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457200" y="3017520"/>
            <a:ext cx="3886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154680"/>
            <a:ext cx="365760" cy="3657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97280" y="31546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Decision-Making
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choices</a:t>
            </a:r>
            <a:endParaRPr lang="en-US" sz="1600" dirty="0"/>
          </a:p>
        </p:txBody>
      </p:sp>
      <p:sp>
        <p:nvSpPr>
          <p:cNvPr id="14" name="Shape 8"/>
          <p:cNvSpPr/>
          <p:nvPr/>
        </p:nvSpPr>
        <p:spPr>
          <a:xfrm>
            <a:off x="4800600" y="3017520"/>
            <a:ext cx="3886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3154680"/>
            <a:ext cx="365760" cy="3657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440680" y="31546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
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input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Netflix recommendations • Fraud detection • Self-driving cars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AI Taxonomy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the Core Ecosystem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1463040"/>
            <a:ext cx="7315200" cy="3017520"/>
          </a:xfrm>
          <a:prstGeom prst="rect">
            <a:avLst/>
          </a:prstGeom>
          <a:solidFill>
            <a:srgbClr val="4A90E2">
              <a:alpha val="80000"/>
            </a:srgbClr>
          </a:solidFill>
          <a:ln w="38100">
            <a:solidFill>
              <a:srgbClr val="4A90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6002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 (AI)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92024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Universe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2286000"/>
            <a:ext cx="6400800" cy="2011680"/>
          </a:xfrm>
          <a:prstGeom prst="rect">
            <a:avLst/>
          </a:prstGeom>
          <a:solidFill>
            <a:srgbClr val="CADCFC">
              <a:alpha val="70000"/>
            </a:srgbClr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24231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(ML)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274320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that learn from data — The Solar System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0" y="3108960"/>
            <a:ext cx="548640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4A90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32461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(DL)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11680" y="35661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Multi-layered neural networks — Planet Earth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572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Machine Learning — The Foundation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CADCFC">
              <a:alpha val="7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"Instead of programming rules, we train models using data"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57200" y="201168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2011680"/>
            <a:ext cx="73152" cy="59436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1031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</a:t>
            </a:r>
            <a:endParaRPr lang="en-US" sz="1500" dirty="0"/>
          </a:p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continuous values like prices • </a:t>
            </a:r>
            <a:r>
              <a:rPr lang="en-US" sz="1100" i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 price prediction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269748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2697480"/>
            <a:ext cx="73152" cy="59436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27889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500" dirty="0"/>
          </a:p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&amp; decision trees • </a:t>
            </a:r>
            <a:r>
              <a:rPr lang="en-US" sz="1100" i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Spam detection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7200" y="338328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3383280"/>
            <a:ext cx="73152" cy="59436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3474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500" dirty="0"/>
          </a:p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classification problems • </a:t>
            </a:r>
            <a:r>
              <a:rPr lang="en-US" sz="1100" i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 diagnosis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4069080"/>
            <a:ext cx="73152" cy="59436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41605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Vector Machines</a:t>
            </a:r>
            <a:endParaRPr lang="en-US" sz="1500" dirty="0"/>
          </a:p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optimal decision boundaries • </a:t>
            </a:r>
            <a:r>
              <a:rPr lang="en-US" sz="1100" i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classification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572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Deep Learning — The Powerhouse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Artificial Neural Networks to unlock modern AI capabilities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57200" y="1645920"/>
            <a:ext cx="3886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8288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0080" y="2286000"/>
            <a:ext cx="3520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Handles massive datasets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Learns complex patterns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Powers modern AI systems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Achieves human-level performance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Enables transfer learning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800600" y="1645920"/>
            <a:ext cx="3886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83480" y="18288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983480" y="2286000"/>
            <a:ext cx="3520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Image recognition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Voice assistants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Chatbots &amp; LLMs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Autonomous vehicles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Medical diagnosis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Specialization 1: Natural Language Processing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28700"/>
            <a:ext cx="8229600" cy="457200"/>
          </a:xfrm>
          <a:prstGeom prst="rect">
            <a:avLst/>
          </a:prstGeom>
          <a:solidFill>
            <a:srgbClr val="4A90E2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6586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applied to human language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73152" cy="64008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Chatbots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AI assistants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00600" y="164592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1645920"/>
            <a:ext cx="73152" cy="64008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737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Summarization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Condensing long documents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423160"/>
            <a:ext cx="73152" cy="64008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514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language conversion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00600" y="242316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2423160"/>
            <a:ext cx="73152" cy="64008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6" name="Text 14"/>
          <p:cNvSpPr/>
          <p:nvPr/>
        </p:nvSpPr>
        <p:spPr>
          <a:xfrm>
            <a:off x="5074920" y="2514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Generation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software from descriptions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solidFill>
            <a:srgbClr val="1E2761">
              <a:alpha val="90000"/>
            </a:srgbClr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474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highlight>
                  <a:srgbClr val="C0C0C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Large Language Models (LLMs)</a:t>
            </a:r>
            <a:endParaRPr lang="en-US" sz="2000" dirty="0">
              <a:highlight>
                <a:srgbClr val="C0C0C0"/>
              </a:highlight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OpenAI's ChatGPT  •  Anthropic's Claude  •  Google's Gemini  •  Meta's Llama</a:t>
            </a:r>
            <a:endParaRPr lang="en-US" sz="14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572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Specialization 2: Computer Vision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solidFill>
            <a:srgbClr val="4A90E2">
              <a:alpha val="8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18872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applied to images and video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169164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691640"/>
            <a:ext cx="2743200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18288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Detection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Identifying faces in images
</a:t>
            </a:r>
            <a:endParaRPr lang="en-US" sz="14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 </a:t>
            </a:r>
            <a:r>
              <a:rPr lang="en-US" sz="1000" i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systems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355848" y="169164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55848" y="1691640"/>
            <a:ext cx="2743200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1" name="Text 8"/>
          <p:cNvSpPr/>
          <p:nvPr/>
        </p:nvSpPr>
        <p:spPr>
          <a:xfrm>
            <a:off x="3493008" y="18288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Imaging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Analyzing X-rays and scans
</a:t>
            </a:r>
            <a:endParaRPr lang="en-US" sz="14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 </a:t>
            </a:r>
            <a:r>
              <a:rPr lang="en-US" sz="1000" i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 detection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54496" y="169164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54496" y="1691640"/>
            <a:ext cx="2743200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4" name="Text 11"/>
          <p:cNvSpPr/>
          <p:nvPr/>
        </p:nvSpPr>
        <p:spPr>
          <a:xfrm>
            <a:off x="6391656" y="18288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Driving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road scenes
</a:t>
            </a:r>
            <a:endParaRPr lang="en-US" sz="14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 </a:t>
            </a:r>
            <a:r>
              <a:rPr lang="en-US" sz="1000" i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Self-driving cars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" y="301752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3017520"/>
            <a:ext cx="2743200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7" name="Text 14"/>
          <p:cNvSpPr/>
          <p:nvPr/>
        </p:nvSpPr>
        <p:spPr>
          <a:xfrm>
            <a:off x="594360" y="31546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Surveillance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and tracking
</a:t>
            </a:r>
            <a:endParaRPr lang="en-US" sz="14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 </a:t>
            </a:r>
            <a:r>
              <a:rPr lang="en-US" sz="1000" i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systems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355848" y="301752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355848" y="3017520"/>
            <a:ext cx="2743200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20" name="Text 17"/>
          <p:cNvSpPr/>
          <p:nvPr/>
        </p:nvSpPr>
        <p:spPr>
          <a:xfrm>
            <a:off x="3493008" y="31546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Detection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Locating items in images
</a:t>
            </a:r>
            <a:endParaRPr lang="en-US" sz="14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 </a:t>
            </a:r>
            <a:r>
              <a:rPr lang="en-US" sz="1000" i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&amp; logistics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254496" y="301752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254496" y="3017520"/>
            <a:ext cx="2743200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23" name="Text 20"/>
          <p:cNvSpPr/>
          <p:nvPr/>
        </p:nvSpPr>
        <p:spPr>
          <a:xfrm>
            <a:off x="6391656" y="31546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Generation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new visuals
</a:t>
            </a:r>
            <a:endParaRPr lang="en-US" sz="14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 </a:t>
            </a:r>
            <a:r>
              <a:rPr lang="en-US" sz="1000" i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&amp; design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C0C0C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Leading Models: Midjourney • DALL-E 3 • Stable Diffusion • OpenAI Sora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C0C0C0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572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Specialization 3: Speech &amp; Audio AI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solidFill>
            <a:srgbClr val="4A90E2">
              <a:alpha val="8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23444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AI is growing extremely fast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1828800"/>
            <a:ext cx="3886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828800"/>
            <a:ext cx="73152" cy="118872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9202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Speech-to-Text
</a:t>
            </a:r>
            <a:endParaRPr lang="en-US" sz="1500" dirty="0"/>
          </a:p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Converting spoken words to written text
</a:t>
            </a:r>
            <a:endParaRPr lang="en-US" sz="15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</a:t>
            </a:r>
            <a:r>
              <a:rPr lang="en-US" sz="10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transcription • Voice notes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800600" y="1828800"/>
            <a:ext cx="3886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00600" y="1828800"/>
            <a:ext cx="73152" cy="118872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1" name="Text 8"/>
          <p:cNvSpPr/>
          <p:nvPr/>
        </p:nvSpPr>
        <p:spPr>
          <a:xfrm>
            <a:off x="5074920" y="19202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Text-to-Speech
</a:t>
            </a:r>
            <a:endParaRPr lang="en-US" sz="1500" dirty="0"/>
          </a:p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Generating natural-sounding speech from text
</a:t>
            </a:r>
            <a:endParaRPr lang="en-US" sz="15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</a:t>
            </a:r>
            <a:r>
              <a:rPr lang="en-US" sz="10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Audiobooks • Accessibility tools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7200" y="3154680"/>
            <a:ext cx="3886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3154680"/>
            <a:ext cx="73152" cy="118872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32461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Cloning
</a:t>
            </a:r>
            <a:endParaRPr lang="en-US" sz="1500" dirty="0"/>
          </a:p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Replicating human voices with AI
</a:t>
            </a:r>
            <a:endParaRPr lang="en-US" sz="15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</a:t>
            </a:r>
            <a:r>
              <a:rPr lang="en-US" sz="10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creation • Dubbing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800600" y="3154680"/>
            <a:ext cx="3886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00600" y="3154680"/>
            <a:ext cx="73152" cy="118872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7" name="Text 14"/>
          <p:cNvSpPr/>
          <p:nvPr/>
        </p:nvSpPr>
        <p:spPr>
          <a:xfrm>
            <a:off x="5074920" y="32461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Translation
</a:t>
            </a:r>
            <a:endParaRPr lang="en-US" sz="1500" dirty="0"/>
          </a:p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language conversion in speech
</a:t>
            </a:r>
            <a:endParaRPr lang="en-US" sz="15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</a:t>
            </a:r>
            <a:r>
              <a:rPr lang="en-US" sz="10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calls • Travel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solidFill>
            <a:srgbClr val="1E2761">
              <a:alpha val="9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40080" y="466344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highlight>
                  <a:srgbClr val="C0C0C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Leading Tools: </a:t>
            </a:r>
            <a:r>
              <a:rPr lang="en-US" sz="1200" b="1" dirty="0">
                <a:solidFill>
                  <a:srgbClr val="1E2761"/>
                </a:solidFill>
                <a:highlight>
                  <a:srgbClr val="C0C0C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ElevenLabs</a:t>
            </a:r>
            <a:r>
              <a:rPr lang="en-US" sz="1200" dirty="0">
                <a:solidFill>
                  <a:srgbClr val="1E2761"/>
                </a:solidFill>
                <a:highlight>
                  <a:srgbClr val="C0C0C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• Google Assistant • Siri • Alexa • Call Center Automation</a:t>
            </a:r>
            <a:endParaRPr lang="en-US" sz="1200" dirty="0">
              <a:highlight>
                <a:srgbClr val="C0C0C0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Intelligence Spectrum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7432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4A90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743200" cy="50292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 AI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Task-Specific Intelligence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designed for one specific task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Spotify recommendations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Face unlock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Chess engines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Spam filters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2560320" cy="320040"/>
          </a:xfrm>
          <a:prstGeom prst="rect">
            <a:avLst/>
          </a:prstGeom>
          <a:solidFill>
            <a:srgbClr val="4A90E2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1605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55848" y="1097280"/>
            <a:ext cx="27432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55848" y="1097280"/>
            <a:ext cx="2743200" cy="5029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3447288" y="1188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47288" y="1783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General Intelligence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47288" y="2103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Human-level intelligence across all domains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47288" y="26974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Reason across contexts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Transfer knowledge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Learn like humans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Solve novel problems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47288" y="4114800"/>
            <a:ext cx="2560320" cy="320040"/>
          </a:xfrm>
          <a:prstGeom prst="rect">
            <a:avLst/>
          </a:prstGeom>
          <a:solidFill>
            <a:srgbClr val="F39C12">
              <a:alpha val="8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447288" y="41605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10-20 Years Away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54496" y="1097280"/>
            <a:ext cx="27432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54496" y="1097280"/>
            <a:ext cx="2743200" cy="5029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1" name="Text 19"/>
          <p:cNvSpPr/>
          <p:nvPr/>
        </p:nvSpPr>
        <p:spPr>
          <a:xfrm>
            <a:off x="6345936" y="1188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45936" y="1783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Super Intelligence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45936" y="2103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beyond human capability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45936" y="26974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Solve impossible problems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Recursive self-improvement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Beyond human comprehension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345936" y="4114800"/>
            <a:ext cx="2560320" cy="320040"/>
          </a:xfrm>
          <a:prstGeom prst="rect">
            <a:avLst/>
          </a:prstGeom>
          <a:solidFill>
            <a:srgbClr val="E74C3C">
              <a:alpha val="8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345936" y="41605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Theoretical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572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AI Roadmap — Step-by-Step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188720"/>
            <a:ext cx="1097280" cy="77724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3716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691640" y="1280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9164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Linear Algebra &amp; Calculus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Probability &amp; Statistics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Python Programming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858000" y="1371600"/>
            <a:ext cx="1645920" cy="411480"/>
          </a:xfrm>
          <a:prstGeom prst="rect">
            <a:avLst/>
          </a:prstGeom>
          <a:solidFill>
            <a:srgbClr val="CADCFC">
              <a:alpha val="7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949440" y="14630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months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05740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2057400"/>
            <a:ext cx="1097280" cy="77724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2402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69164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Classic ML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042160" y="2423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handling (Pandas, NumPy)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Classic ML (Scikit-learn)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Model evaluation metrics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858000" y="2240280"/>
            <a:ext cx="1645920" cy="411480"/>
          </a:xfrm>
          <a:prstGeom prst="rect">
            <a:avLst/>
          </a:prstGeom>
          <a:solidFill>
            <a:srgbClr val="CADCFC">
              <a:alpha val="7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6949440" y="23317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months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" y="2926080"/>
            <a:ext cx="1097280" cy="77724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31089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691640" y="3017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691640" y="3291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Deep Learning fundamentals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PyTorch / TensorFlow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Training &amp; optimization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858000" y="3108960"/>
            <a:ext cx="1645920" cy="411480"/>
          </a:xfrm>
          <a:prstGeom prst="rect">
            <a:avLst/>
          </a:prstGeom>
          <a:solidFill>
            <a:srgbClr val="CADCFC">
              <a:alpha val="70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6949440" y="32004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3-4 months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79476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7200" y="3794760"/>
            <a:ext cx="1097280" cy="77724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27" name="Text 24"/>
          <p:cNvSpPr/>
          <p:nvPr/>
        </p:nvSpPr>
        <p:spPr>
          <a:xfrm>
            <a:off x="548640" y="39776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1691640" y="3886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Specialization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691640" y="4160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Choose: NLP, CV, or Speech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Advanced architectures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Real-world projects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858000" y="3977640"/>
            <a:ext cx="1645920" cy="411480"/>
          </a:xfrm>
          <a:prstGeom prst="rect">
            <a:avLst/>
          </a:prstGeom>
          <a:solidFill>
            <a:srgbClr val="CADCFC">
              <a:alpha val="70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6949440" y="40690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/>
              <a:t>2-3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572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Fast Track Strategy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024128"/>
            <a:ext cx="8229600" cy="1005840"/>
          </a:xfrm>
          <a:prstGeom prst="rect">
            <a:avLst/>
          </a:prstGeom>
          <a:solidFill>
            <a:srgbClr val="E74C3C">
              <a:alpha val="90000"/>
            </a:srgbClr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1371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74C3C"/>
                </a:solidFill>
                <a:highlight>
                  <a:srgbClr val="FF00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r>
              <a:rPr lang="en-US" sz="20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tutorials and scattered learning
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a structured roadmap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15816" y="2083659"/>
            <a:ext cx="8399585" cy="2788685"/>
          </a:xfrm>
          <a:prstGeom prst="rect">
            <a:avLst/>
          </a:prstGeom>
          <a:solidFill>
            <a:srgbClr val="1E2761">
              <a:alpha val="95000"/>
            </a:srgbClr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787769" y="2197035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Siddhardhan's Complete ML Playlist (60+ hours)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31546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Precision &amp; Recall metrics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341071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Classification models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3666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Regression techniques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14400" y="392277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Recommendation systems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14400" y="41788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Deployment basics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14400" y="44348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Real-world projects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83688" y="4652302"/>
            <a:ext cx="7863840" cy="457200"/>
          </a:xfrm>
          <a:prstGeom prst="rect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07256" y="4680555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alone builds ~70% of your ML foundation</a:t>
            </a:r>
            <a:endParaRPr lang="en-US" sz="16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393D10C-0C90-1525-24D6-CFFDB00BAD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562" y="2580538"/>
            <a:ext cx="3467225" cy="195031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AD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54686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840" y="899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ESSENTIAL TOOLS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457200" y="24612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Students &amp; Professionals</a:t>
            </a: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Deep dive into each tool →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114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NotebookLM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AI-Powered Study Assistant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57200" y="1417320"/>
            <a:ext cx="3886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6002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0080" y="2057400"/>
            <a:ext cx="3520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Generates summaries from your notes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Creates mind maps automatically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Produces study videos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Answers questions about content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Organizes complex information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Works with PDFs, notes, and docs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800600" y="1417320"/>
            <a:ext cx="3886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83480" y="16002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Use It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983480" y="2057400"/>
            <a:ext cx="3520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hours on note organization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retention through visualization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exam preparation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to use with Google account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4681728"/>
            <a:ext cx="78638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Access: notebooklm.google.com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114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AI Studio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AI with Screen Sharing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57200" y="1417320"/>
            <a:ext cx="3886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6002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0080" y="2057400"/>
            <a:ext cx="3520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Screen sharing with AI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Analyze images and videos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Process multiple file types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assistance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Code understanding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Free Gemini access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800600" y="1417320"/>
            <a:ext cx="3886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83480" y="16002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For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983480" y="2057400"/>
            <a:ext cx="3520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help with coding problems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Analyzing design mockups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 visual issues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from video content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4681728"/>
            <a:ext cx="78638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Access: aistudio.google.com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114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Lovable.dev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&amp; Host Websites Instantly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57200" y="1417320"/>
            <a:ext cx="3886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6002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0080" y="2057400"/>
            <a:ext cx="3520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Build websites from descriptions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coding required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hosting and deployment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Professional templates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Mobile-responsive designs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 domain support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800600" y="1417320"/>
            <a:ext cx="3886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83480" y="16002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983480" y="2057400"/>
            <a:ext cx="3520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websites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landing pages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websites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blogs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prototypes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4681728"/>
            <a:ext cx="78638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Access: lovable.dev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114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OpenClaw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Personal AI Assistant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57200" y="1417320"/>
            <a:ext cx="3886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6002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0080" y="2057400"/>
            <a:ext cx="3520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Task automation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Research assistance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Email management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Schedule coordination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Document processing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Personalized workflows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800600" y="1417320"/>
            <a:ext cx="3886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83480" y="16002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983480" y="2057400"/>
            <a:ext cx="3520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10+ hours per week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important work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cognitive load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miss deadlines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productivity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4681728"/>
            <a:ext cx="78638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Search: OpenClaw AI Assistant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114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Notion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Track, Plan &amp; Manage Your Life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57200" y="1417320"/>
            <a:ext cx="3886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6002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0080" y="2057400"/>
            <a:ext cx="3520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All-in-one workspace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Project management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Note-taking &amp; wikis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Task tracking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Database &amp; calendar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Collaboration tools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800600" y="1417320"/>
            <a:ext cx="3886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83480" y="16002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Use Cases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983480" y="2057400"/>
            <a:ext cx="3520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notes &amp; materials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deadlines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schedules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organization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projects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4681728"/>
            <a:ext cx="78638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Access: notion.so • Free for students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572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Safety, Ethics &amp; Risks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198" y="1280160"/>
            <a:ext cx="388620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280160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97280" y="13258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Risks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640080" y="173736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Deepfakes and misinformation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Privacy violations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Job displacement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Autonomous weapons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4800602" y="1257300"/>
            <a:ext cx="388620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1280160"/>
            <a:ext cx="36576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40680" y="13258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AI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4983480" y="173736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Fairness and equity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Human oversight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Regulation frameworks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Ethical guidelines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457200" y="3108960"/>
            <a:ext cx="8229600" cy="1371600"/>
          </a:xfrm>
          <a:prstGeom prst="rect">
            <a:avLst/>
          </a:prstGeom>
          <a:solidFill>
            <a:srgbClr val="1E2761">
              <a:alpha val="90000"/>
            </a:srgbClr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10540" y="34518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Ethics is not optional — it's mandatory
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alphaModFix amt="55000"/>
            <a:lum/>
          </a:blip>
          <a:srcRect/>
          <a:stretch>
            <a:fillRect l="-8000" r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8585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FUTURE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93784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 &amp; Your Career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231840" y="2606040"/>
            <a:ext cx="8561640" cy="1203960"/>
          </a:xfrm>
          <a:prstGeom prst="rect">
            <a:avLst/>
          </a:prstGeom>
          <a:blipFill>
            <a:blip r:embed="rId3">
              <a:alphaModFix amt="0"/>
            </a:blip>
            <a:stretch>
              <a:fillRect/>
            </a:stretch>
          </a:blipFill>
          <a:ln/>
        </p:spPr>
        <p:txBody>
          <a:bodyPr wrap="square" rtlCol="0" anchor="ctr"/>
          <a:lstStyle/>
          <a:p>
            <a:r>
              <a:rPr lang="en-US" b="1" spc="300" dirty="0">
                <a:latin typeface="Arial Rounded MT Bold" panose="020F0704030504030204" pitchFamily="34" charset="0"/>
                <a:ea typeface="Arial" pitchFamily="34" charset="-122"/>
                <a:cs typeface="Arial" panose="020B0604020202020204" pitchFamily="34" charset="0"/>
              </a:rPr>
              <a:t>Reality Check:</a:t>
            </a:r>
            <a:r>
              <a:rPr lang="en-US" b="1" spc="3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
• </a:t>
            </a:r>
            <a:r>
              <a:rPr lang="en-US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AGI is likely 10 years away
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• Current models are advanced pattern predictors
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• True reasoning systems don't exist yet
</a:t>
            </a:r>
            <a:endParaRPr lang="en-US" b="1" dirty="0">
              <a:latin typeface="Arial Rounded MT Bold" panose="020F0704030504030204" pitchFamily="34" charset="0"/>
              <a:cs typeface="Arial" panose="020B0604020202020204" pitchFamily="34" charset="0"/>
            </a:endParaRPr>
          </a:p>
          <a:p>
            <a:r>
              <a:rPr lang="en-US" b="1" spc="300" dirty="0">
                <a:latin typeface="Arial Rounded MT Bold" panose="020F0704030504030204" pitchFamily="34" charset="0"/>
                <a:ea typeface="Arial" pitchFamily="34" charset="-122"/>
                <a:cs typeface="Arial" panose="020B0604020202020204" pitchFamily="34" charset="0"/>
              </a:rPr>
              <a:t>Industry Reality:</a:t>
            </a:r>
            <a:r>
              <a:rPr lang="en-US" b="1" spc="3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
</a:t>
            </a:r>
            <a:endParaRPr lang="en-US" b="1" spc="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• AI replaces repetitive tasks
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• AI augments experts
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• Entry-level roles are most impact</a:t>
            </a: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ed</a:t>
            </a:r>
            <a:endParaRPr lang="en-US" b="1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4F49E91-6361-7115-A08E-1D2742B653FB}"/>
                  </a:ext>
                </a:extLst>
              </p14:cNvPr>
              <p14:cNvContentPartPr/>
              <p14:nvPr/>
            </p14:nvContentPartPr>
            <p14:xfrm>
              <a:off x="3345180" y="3626940"/>
              <a:ext cx="36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4F49E91-6361-7115-A08E-1D2742B653F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39060" y="362082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BD2F4C8-64A3-640B-04DB-F56B4A83A584}"/>
                  </a:ext>
                </a:extLst>
              </p14:cNvPr>
              <p14:cNvContentPartPr/>
              <p14:nvPr/>
            </p14:nvContentPartPr>
            <p14:xfrm>
              <a:off x="7056060" y="4587060"/>
              <a:ext cx="360" cy="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BD2F4C8-64A3-640B-04DB-F56B4A83A58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49940" y="458094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BFA54DB-94B5-6F1F-CD33-23A501DB6355}"/>
                  </a:ext>
                </a:extLst>
              </p14:cNvPr>
              <p14:cNvContentPartPr/>
              <p14:nvPr/>
            </p14:nvContentPartPr>
            <p14:xfrm>
              <a:off x="6941580" y="4808100"/>
              <a:ext cx="360" cy="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BFA54DB-94B5-6F1F-CD33-23A501DB63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35460" y="480198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57FECAD-0D03-EAD7-FA49-51211B3935ED}"/>
                  </a:ext>
                </a:extLst>
              </p14:cNvPr>
              <p14:cNvContentPartPr/>
              <p14:nvPr/>
            </p14:nvContentPartPr>
            <p14:xfrm>
              <a:off x="7475100" y="5021580"/>
              <a:ext cx="36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57FECAD-0D03-EAD7-FA49-51211B3935E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68980" y="501546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3D87B6C-D980-0CFB-D3C2-B877DD7D8F77}"/>
                  </a:ext>
                </a:extLst>
              </p14:cNvPr>
              <p14:cNvContentPartPr/>
              <p14:nvPr/>
            </p14:nvContentPartPr>
            <p14:xfrm>
              <a:off x="5112780" y="3886140"/>
              <a:ext cx="360" cy="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3D87B6C-D980-0CFB-D3C2-B877DD7D8F7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06660" y="388002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D76879E-C5DE-0C19-91BB-3C001DD1265D}"/>
                  </a:ext>
                </a:extLst>
              </p14:cNvPr>
              <p14:cNvContentPartPr/>
              <p14:nvPr/>
            </p14:nvContentPartPr>
            <p14:xfrm>
              <a:off x="3954660" y="1470540"/>
              <a:ext cx="360" cy="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D76879E-C5DE-0C19-91BB-3C001DD1265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48540" y="146442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4FF4753-65AE-5564-EE40-37C0420A2EB0}"/>
                  </a:ext>
                </a:extLst>
              </p14:cNvPr>
              <p14:cNvContentPartPr/>
              <p14:nvPr/>
            </p14:nvContentPartPr>
            <p14:xfrm>
              <a:off x="670380" y="1028460"/>
              <a:ext cx="360" cy="3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4FF4753-65AE-5564-EE40-37C0420A2EB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4260" y="102234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65CE0F9-AE5B-F509-41A2-0030B50CB7F1}"/>
                  </a:ext>
                </a:extLst>
              </p14:cNvPr>
              <p14:cNvContentPartPr/>
              <p14:nvPr/>
            </p14:nvContentPartPr>
            <p14:xfrm>
              <a:off x="1478220" y="1356060"/>
              <a:ext cx="360" cy="3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65CE0F9-AE5B-F509-41A2-0030B50CB7F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72100" y="1349940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ADVANTAGE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914400" y="2743200"/>
            <a:ext cx="7315200" cy="118872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5" name="Text 2"/>
          <p:cNvSpPr/>
          <p:nvPr/>
        </p:nvSpPr>
        <p:spPr>
          <a:xfrm>
            <a:off x="1097280" y="292608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master AI systems deeply,
</a:t>
            </a:r>
            <a:endParaRPr lang="en-US" sz="20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will </a:t>
            </a: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AI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compete with it.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learning. Start building. Start now.</a:t>
            </a:r>
            <a:endParaRPr lang="en-US" sz="18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1235</Words>
  <Application>Microsoft Office PowerPoint</Application>
  <PresentationFormat>On-screen Show (16:9)</PresentationFormat>
  <Paragraphs>294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Arial Black</vt:lpstr>
      <vt:lpstr>Arial Rounded MT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Deep Dive: From Basics to AGI</dc:title>
  <dc:subject>PptxGenJS Presentation</dc:subject>
  <dc:creator>Computer Science Student</dc:creator>
  <cp:lastModifiedBy>S E S</cp:lastModifiedBy>
  <cp:revision>2</cp:revision>
  <dcterms:created xsi:type="dcterms:W3CDTF">2026-02-15T14:37:31Z</dcterms:created>
  <dcterms:modified xsi:type="dcterms:W3CDTF">2026-02-15T16:35:25Z</dcterms:modified>
</cp:coreProperties>
</file>